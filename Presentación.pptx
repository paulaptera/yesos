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4739C-6999-9FF0-E1DB-84F68E15B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D2800F-BEE4-4E4C-B4FE-665137BA6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420814-1954-6DB0-33C4-3A0E496E9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5BDCC-4BA7-4EAC-811B-AFEAD01605BE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9C4E46-AE01-56A9-71E1-69F29EBF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8CEEE7-A32A-2B0B-AA1E-509A9F4FC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D17F-CB68-4D8C-8CA3-D214C0DFC9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982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36D8E-AD79-CA0B-72F9-56C078EF5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AE2305-9218-2754-2862-591E588DA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DE17AA-CA5F-4471-2951-E7509C68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5BDCC-4BA7-4EAC-811B-AFEAD01605BE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503D77-ED76-1D9D-C25E-25E587A24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B807C5-B087-CCAC-6B23-1C1A24340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D17F-CB68-4D8C-8CA3-D214C0DFC9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14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0E353-871C-9959-963D-C02D78671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7FF5CF-B840-6DF8-89A5-7E65AC07E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810869-4084-22E5-984D-E2D47B2A6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5BDCC-4BA7-4EAC-811B-AFEAD01605BE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5E2B1-72EF-8656-199B-89D26292F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F62ADC-2A8F-147A-6B1B-CC8092F3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D17F-CB68-4D8C-8CA3-D214C0DFC9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6037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BC091-257A-47F3-4A6C-6FA5029C2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A936CB-185E-CF8E-CE53-03107A2D1F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840149-0CFA-194A-C682-AC565872D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F80828-59E9-18F0-1A2D-DBF093F1D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5BDCC-4BA7-4EAC-811B-AFEAD01605BE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522EFB-4EDA-94AE-7D9A-029B432A3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755D1F-723A-7F33-0BB0-7F06AAEC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D17F-CB68-4D8C-8CA3-D214C0DFC9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817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9CCEE-51FD-79A2-F9D6-A0AA25BB6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C1F67B-3BFD-D797-318C-85B38FEF6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EDE282-58E8-220D-7255-1E91B5F0A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3E21EE5-997F-5C37-E920-DC2913002D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154A04A-5849-8D9B-014B-4AB0EB7AF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B800DE8-2AFC-2665-E80C-8C79E0FA1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5BDCC-4BA7-4EAC-811B-AFEAD01605BE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E9043E2-6A6A-A2EB-0743-F7FAB83C0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EF866FA-1EBB-5423-82CF-78D30753B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D17F-CB68-4D8C-8CA3-D214C0DFC9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4501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043D2-1C5A-A4EA-7DEF-820BC7E11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89F823-101C-AF24-7BC4-6A368D2B5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5BDCC-4BA7-4EAC-811B-AFEAD01605BE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5D5B75C-FE3A-C350-DD18-24118F3EF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943A7E-65E1-F02A-DA49-22A9F210B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D17F-CB68-4D8C-8CA3-D214C0DFC9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089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0C40610-7C8C-068A-9655-F3B3CBAE1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5BDCC-4BA7-4EAC-811B-AFEAD01605BE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FCBC565-D13B-44AE-5A70-74FBF09CE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7211B6-B3A0-D5CB-B7F2-731DC35B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D17F-CB68-4D8C-8CA3-D214C0DFC9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6477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872E0F-4441-E702-29A9-62F0CB641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D554C6-8918-5C8B-9C9A-86B72CA26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631563-BA05-23C3-6FA0-5F5162B6B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5D210B-0A65-F351-8B1A-BCBA5CAC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5BDCC-4BA7-4EAC-811B-AFEAD01605BE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7941D0-B448-ADFC-E4AB-BFF67CD3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9DAA01-B4B1-0AD7-CAC3-7C0D31875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D17F-CB68-4D8C-8CA3-D214C0DFC9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843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EF1FB-1E8C-520E-4C5D-EA77AF767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E76128-27C4-0B71-A8D3-AF3E33046D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3A1C40-C889-D1F8-DD31-5DDD283DD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2BE51A-AD44-B588-6986-AACA08E5B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5BDCC-4BA7-4EAC-811B-AFEAD01605BE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1A7A8C-574B-4BFB-844B-AB0F8D99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77B831-276A-3864-609E-774B301A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D17F-CB68-4D8C-8CA3-D214C0DFC9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732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92CA2-1A68-D059-0A51-522EE03D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7EC064-272F-7BFF-CC6B-E422DBD1D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B22C00-2600-20C0-5105-AC2D900D4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5BDCC-4BA7-4EAC-811B-AFEAD01605BE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DDA31B-02FA-A440-74C6-7D07A1FD2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E5B8C9-F04B-2CE7-4E21-102DA560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D17F-CB68-4D8C-8CA3-D214C0DFC9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9973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269541F-5372-7569-CDB6-AA48479B6C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53B2F51-FC76-68F0-B0C2-E5A50B883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9FBCB4-72B3-33E9-FC40-946930708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5BDCC-4BA7-4EAC-811B-AFEAD01605BE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4E633F-3C78-FCDF-37D9-E91DF95B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EC17A9-850C-7B47-4B14-071044D8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8D17F-CB68-4D8C-8CA3-D214C0DFC9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6274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0534DC1-5783-487A-4644-C09246410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FDE511-EE37-CE80-B561-A85B52430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EB102C-18BC-55FE-C244-521C7AD99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25BDCC-4BA7-4EAC-811B-AFEAD01605BE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BF4922-7994-3F6C-8744-BC04BA714B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709846-5D3E-341E-EE44-5D1EBDEF2B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C8D17F-CB68-4D8C-8CA3-D214C0DFC9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2897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BD8F9B7-209A-63B2-BEE2-5CF240A20F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3" t="39234" b="18879"/>
          <a:stretch>
            <a:fillRect/>
          </a:stretch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4D60BD-DCE6-0B10-53A9-C5B436468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pPr algn="l"/>
            <a:r>
              <a:rPr lang="es-ES" sz="6600" b="1">
                <a:solidFill>
                  <a:schemeClr val="bg1"/>
                </a:solidFill>
              </a:rPr>
              <a:t>La protección de las especies gypsófilas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86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28F88E-C406-51D6-BDBA-BEFB925FA5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70" r="-2" b="-2"/>
          <a:stretch>
            <a:fillRect/>
          </a:stretch>
        </p:blipFill>
        <p:spPr>
          <a:xfrm>
            <a:off x="4883022" y="10"/>
            <a:ext cx="7308978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6857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EBE53C-8567-46F6-5397-D6D11AB1E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856488"/>
            <a:ext cx="4992624" cy="1243584"/>
          </a:xfrm>
        </p:spPr>
        <p:txBody>
          <a:bodyPr anchor="ctr">
            <a:normAutofit/>
          </a:bodyPr>
          <a:lstStyle/>
          <a:p>
            <a:r>
              <a:rPr lang="es-ES" sz="3400"/>
              <a:t>El proyecto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769" y="2195336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62CD21-75E0-3D61-D39C-E72459C7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2522949"/>
            <a:ext cx="5065776" cy="3402363"/>
          </a:xfrm>
        </p:spPr>
        <p:txBody>
          <a:bodyPr anchor="t">
            <a:normAutofit/>
          </a:bodyPr>
          <a:lstStyle/>
          <a:p>
            <a:r>
              <a:rPr lang="es-ES" sz="2000" dirty="0"/>
              <a:t>Conocer su distribución geográfica</a:t>
            </a:r>
          </a:p>
          <a:p>
            <a:r>
              <a:rPr lang="es-ES" sz="2000" dirty="0"/>
              <a:t>Su distribución dentro de la filogenia</a:t>
            </a:r>
          </a:p>
          <a:p>
            <a:r>
              <a:rPr lang="es-ES" sz="2000" dirty="0"/>
              <a:t>Su grado de amenaza</a:t>
            </a:r>
          </a:p>
          <a:p>
            <a:r>
              <a:rPr lang="es-ES" sz="2000" dirty="0"/>
              <a:t>El grado de similitud entre regiones</a:t>
            </a:r>
          </a:p>
          <a:p>
            <a:r>
              <a:rPr lang="es-ES" sz="2000" dirty="0"/>
              <a:t>Cómo de protegidas están</a:t>
            </a:r>
          </a:p>
          <a:p>
            <a:endParaRPr lang="es-ES" sz="2000" dirty="0"/>
          </a:p>
          <a:p>
            <a:pPr marL="0" indent="0">
              <a:buNone/>
            </a:pPr>
            <a:r>
              <a:rPr lang="es-ES" sz="2000" dirty="0"/>
              <a:t>	A NIVEL GLOBAL!!</a:t>
            </a:r>
          </a:p>
          <a:p>
            <a:endParaRPr lang="es-ES" sz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08CD08-68BF-5A3B-1CEC-864C1A4FC0B3}"/>
              </a:ext>
            </a:extLst>
          </p:cNvPr>
          <p:cNvSpPr txBox="1"/>
          <p:nvPr/>
        </p:nvSpPr>
        <p:spPr>
          <a:xfrm>
            <a:off x="9958551" y="6335559"/>
            <a:ext cx="2040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solidFill>
                  <a:schemeClr val="bg1"/>
                </a:solidFill>
              </a:rPr>
              <a:t>Herniaria fruticosa</a:t>
            </a:r>
          </a:p>
        </p:txBody>
      </p:sp>
    </p:spTree>
    <p:extLst>
      <p:ext uri="{BB962C8B-B14F-4D97-AF65-F5344CB8AC3E}">
        <p14:creationId xmlns:p14="http://schemas.microsoft.com/office/powerpoint/2010/main" val="1405968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Los Pedreñales | MINAS OLVIDADAS DE ARAGÓN">
            <a:extLst>
              <a:ext uri="{FF2B5EF4-FFF2-40B4-BE49-F238E27FC236}">
                <a16:creationId xmlns:a16="http://schemas.microsoft.com/office/drawing/2014/main" id="{12E4C13B-5813-77D8-3169-AA2F8BDA62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75" r="24776"/>
          <a:stretch>
            <a:fillRect/>
          </a:stretch>
        </p:blipFill>
        <p:spPr>
          <a:xfrm>
            <a:off x="4883022" y="10"/>
            <a:ext cx="7308978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6857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4C7FC7-5A03-3584-CBCA-968509BD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856488"/>
            <a:ext cx="4992624" cy="1243584"/>
          </a:xfrm>
        </p:spPr>
        <p:txBody>
          <a:bodyPr anchor="ctr">
            <a:normAutofit/>
          </a:bodyPr>
          <a:lstStyle/>
          <a:p>
            <a:r>
              <a:rPr lang="es-ES" sz="3400"/>
              <a:t>Hábitats marginados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769" y="2195336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8989032C-F547-5C75-6241-F57DC869D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2522949"/>
            <a:ext cx="5065776" cy="3402363"/>
          </a:xfrm>
        </p:spPr>
        <p:txBody>
          <a:bodyPr anchor="t">
            <a:normAutofit/>
          </a:bodyPr>
          <a:lstStyle/>
          <a:p>
            <a:r>
              <a:rPr lang="es-ES" sz="2000" dirty="0"/>
              <a:t>Usados como vertederos, para edificar, etc.</a:t>
            </a:r>
          </a:p>
          <a:p>
            <a:r>
              <a:rPr lang="es-ES" sz="2000" dirty="0"/>
              <a:t>Vistos como lugares yermos y poco valorados.</a:t>
            </a:r>
          </a:p>
          <a:p>
            <a:endParaRPr lang="es-ES" sz="2000" dirty="0"/>
          </a:p>
          <a:p>
            <a:endParaRPr lang="es-ES" sz="2000" dirty="0"/>
          </a:p>
          <a:p>
            <a:pPr marL="0" indent="0" algn="ctr">
              <a:buNone/>
            </a:pPr>
            <a:r>
              <a:rPr lang="es-ES" sz="2000" b="1" dirty="0"/>
              <a:t>¿Cómo de protegidas estarán las plantas específicas de este hábitat?</a:t>
            </a:r>
          </a:p>
        </p:txBody>
      </p:sp>
    </p:spTree>
    <p:extLst>
      <p:ext uri="{BB962C8B-B14F-4D97-AF65-F5344CB8AC3E}">
        <p14:creationId xmlns:p14="http://schemas.microsoft.com/office/powerpoint/2010/main" val="2437155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88A16-8640-0E33-3E25-B84FDE49F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587D921-E279-FBAD-84EB-7D56D6814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4AB46CB3-9542-4786-3A79-2033A14CA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93BF0C1A-6BC0-5AEB-1035-374DB1556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6857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FD9732-D0BA-EE9F-48F4-A0A7E4173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856488"/>
            <a:ext cx="4992624" cy="1243584"/>
          </a:xfrm>
        </p:spPr>
        <p:txBody>
          <a:bodyPr anchor="ctr">
            <a:normAutofit/>
          </a:bodyPr>
          <a:lstStyle/>
          <a:p>
            <a:r>
              <a:rPr lang="es-ES" sz="3600" dirty="0"/>
              <a:t>Áreas protegidas</a:t>
            </a:r>
            <a:br>
              <a:rPr lang="es-ES" sz="3600" dirty="0"/>
            </a:br>
            <a:r>
              <a:rPr lang="es-ES" sz="3600" dirty="0"/>
              <a:t>del mundo</a:t>
            </a:r>
            <a:endParaRPr lang="es-ES" sz="3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C43F27-29C3-8592-2EDE-53319E6B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E5F47D-7E1D-E49C-E445-276E7CB3A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769" y="2195336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887BE82-AB59-0DCD-5376-708CAD689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276" y="90799"/>
            <a:ext cx="3637145" cy="667640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14600AA-C93B-F10B-9F5B-77AD4DF7C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2956559"/>
            <a:ext cx="6757309" cy="316909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513456A-F445-3BF8-19F9-B55BB054B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2409456"/>
            <a:ext cx="2326494" cy="45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057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E535B-306F-3F4C-7A30-914D4C0F5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E9A8DBC-CB63-50A3-A246-EE237E36E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FD756760-EBB5-A71C-E7D9-1475CF9D3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990403B0-AC21-C136-58BA-0B68C6688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6857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832040-B69F-2DB4-BF85-1BB80F328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856488"/>
            <a:ext cx="4992624" cy="1243584"/>
          </a:xfrm>
        </p:spPr>
        <p:txBody>
          <a:bodyPr anchor="ctr">
            <a:normAutofit/>
          </a:bodyPr>
          <a:lstStyle/>
          <a:p>
            <a:r>
              <a:rPr lang="es-ES" sz="3600" dirty="0"/>
              <a:t>Regiones florísticas</a:t>
            </a:r>
            <a:endParaRPr lang="es-ES" sz="3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A79517-972D-D50A-2BC7-0BA213878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336D2E-AB73-F4CA-8A2C-4F6EA1799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769" y="2195336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Imagen 3" descr="The 42 biogeographic regions of the world. 1, Circumarctic; 2, Circumboreal; 3, Eurosiberian; 4, Chinese-Japanese; 5, Mediterranean; 6, Macaronesian; 7, Irano-Turanian; 8, Saharo-Sindian; 9, North American Atlantic, 10, Rocky Mountains; 11, Western North American (California and Great Basin). 12, Sudano-Zambezian, 13, Ethiopian-Southarabian; 14, Guinean-Congolese; 15, Southeastern African; 16, Karoo-Namibian; 17, Malagasy; 18, St. Helena and Ascension; 19, Indian; 20, Indo-Chinese; 21, Malesian; 22, Fijian; 23, Neocaledonian; 24, Polinesian; 25, Hawaian; 26, Madrean; 27, Antillean-Mesoamerican; 28, Orinoco-Guyana; 29, Amazonian; 30, Andean-Pacific; 31, Brazilian-Parana; 32, Pampean; 33, Central Chilean-Western Patagonian; 34, North Australian, 35, Central Australian (Eremean); 36, Tasmanian-Southeastern Australian; 37, Southwestern Australian; 38, Capensis; 39, Valdivian-Magellanic; 40, Juan Fernández; 41, New Zealand; 42, Circumantarctic archipelagos.">
            <a:extLst>
              <a:ext uri="{FF2B5EF4-FFF2-40B4-BE49-F238E27FC236}">
                <a16:creationId xmlns:a16="http://schemas.microsoft.com/office/drawing/2014/main" id="{EBB79EFA-A80D-8EAC-EE80-3326DA138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397" y="2330212"/>
            <a:ext cx="9122920" cy="44112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811E3A1-86B0-C92E-7C83-9A22D2E1BA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096"/>
          <a:stretch>
            <a:fillRect/>
          </a:stretch>
        </p:blipFill>
        <p:spPr>
          <a:xfrm>
            <a:off x="5614416" y="78292"/>
            <a:ext cx="6202680" cy="1959990"/>
          </a:xfrm>
          <a:prstGeom prst="rect">
            <a:avLst/>
          </a:prstGeom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1A535956-28B5-6D92-AA37-E6EBA42C14BE}"/>
              </a:ext>
            </a:extLst>
          </p:cNvPr>
          <p:cNvSpPr/>
          <p:nvPr/>
        </p:nvSpPr>
        <p:spPr>
          <a:xfrm>
            <a:off x="5839492" y="3320487"/>
            <a:ext cx="247365" cy="217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A1A94EE-D356-1A4F-80EC-7A5648F47431}"/>
              </a:ext>
            </a:extLst>
          </p:cNvPr>
          <p:cNvSpPr/>
          <p:nvPr/>
        </p:nvSpPr>
        <p:spPr>
          <a:xfrm>
            <a:off x="7924866" y="3382699"/>
            <a:ext cx="247365" cy="217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29C20C7-1A26-D29A-8491-06ADEF13F1D8}"/>
              </a:ext>
            </a:extLst>
          </p:cNvPr>
          <p:cNvSpPr/>
          <p:nvPr/>
        </p:nvSpPr>
        <p:spPr>
          <a:xfrm>
            <a:off x="6167443" y="3755019"/>
            <a:ext cx="247365" cy="217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469DA5C-A846-4C54-2188-96EA4882B8D9}"/>
              </a:ext>
            </a:extLst>
          </p:cNvPr>
          <p:cNvSpPr/>
          <p:nvPr/>
        </p:nvSpPr>
        <p:spPr>
          <a:xfrm>
            <a:off x="6967772" y="4202106"/>
            <a:ext cx="247365" cy="217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CD94021D-0134-1B4F-B6CF-E6574C1642F3}"/>
              </a:ext>
            </a:extLst>
          </p:cNvPr>
          <p:cNvSpPr/>
          <p:nvPr/>
        </p:nvSpPr>
        <p:spPr>
          <a:xfrm>
            <a:off x="9168891" y="5130010"/>
            <a:ext cx="247365" cy="217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253BB90-90A9-1B75-641A-83B7D1DF7499}"/>
              </a:ext>
            </a:extLst>
          </p:cNvPr>
          <p:cNvSpPr/>
          <p:nvPr/>
        </p:nvSpPr>
        <p:spPr>
          <a:xfrm>
            <a:off x="8945333" y="5428898"/>
            <a:ext cx="247365" cy="217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4DB5A1FA-F01C-D88B-7835-761678A49E1D}"/>
              </a:ext>
            </a:extLst>
          </p:cNvPr>
          <p:cNvSpPr/>
          <p:nvPr/>
        </p:nvSpPr>
        <p:spPr>
          <a:xfrm>
            <a:off x="4294240" y="4998347"/>
            <a:ext cx="247365" cy="217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B87DC8B-139B-C555-1D12-D81F87EAADE5}"/>
              </a:ext>
            </a:extLst>
          </p:cNvPr>
          <p:cNvSpPr/>
          <p:nvPr/>
        </p:nvSpPr>
        <p:spPr>
          <a:xfrm>
            <a:off x="4371622" y="5525835"/>
            <a:ext cx="247365" cy="217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9F76D04-5A93-F133-5D54-CB5C3838228A}"/>
              </a:ext>
            </a:extLst>
          </p:cNvPr>
          <p:cNvSpPr/>
          <p:nvPr/>
        </p:nvSpPr>
        <p:spPr>
          <a:xfrm>
            <a:off x="3424427" y="3704381"/>
            <a:ext cx="247365" cy="217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6BDAF25A-BF9A-7281-C7B3-B5F000CFBFF7}"/>
              </a:ext>
            </a:extLst>
          </p:cNvPr>
          <p:cNvSpPr/>
          <p:nvPr/>
        </p:nvSpPr>
        <p:spPr>
          <a:xfrm>
            <a:off x="3291600" y="3370768"/>
            <a:ext cx="247365" cy="217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C434EC7-BAD2-78A9-35B6-03BBD7C2F95C}"/>
              </a:ext>
            </a:extLst>
          </p:cNvPr>
          <p:cNvSpPr/>
          <p:nvPr/>
        </p:nvSpPr>
        <p:spPr>
          <a:xfrm>
            <a:off x="6374765" y="5156676"/>
            <a:ext cx="247365" cy="217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83167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77</Words>
  <Application>Microsoft Office PowerPoint</Application>
  <PresentationFormat>Panorámica</PresentationFormat>
  <Paragraphs>18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Tema de Office</vt:lpstr>
      <vt:lpstr>La protección de las especies gypsófilas</vt:lpstr>
      <vt:lpstr>El proyecto</vt:lpstr>
      <vt:lpstr>Hábitats marginados</vt:lpstr>
      <vt:lpstr>Áreas protegidas del mundo</vt:lpstr>
      <vt:lpstr>Regiones florísticas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Paula Garcia Gonzalez</dc:creator>
  <cp:lastModifiedBy>Paula Garcia Gonzalez</cp:lastModifiedBy>
  <cp:revision>3</cp:revision>
  <dcterms:created xsi:type="dcterms:W3CDTF">2026-05-27T10:58:48Z</dcterms:created>
  <dcterms:modified xsi:type="dcterms:W3CDTF">2026-05-27T11:34:31Z</dcterms:modified>
</cp:coreProperties>
</file>